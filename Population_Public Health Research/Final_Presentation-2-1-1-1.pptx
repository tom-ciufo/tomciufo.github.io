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6" r:id="rId8"/>
    <p:sldId id="267" r:id="rId9"/>
    <p:sldId id="268" r:id="rId10"/>
    <p:sldId id="262" r:id="rId11"/>
    <p:sldId id="263" r:id="rId12"/>
    <p:sldId id="269"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54"/>
    <p:restoredTop sz="87534"/>
  </p:normalViewPr>
  <p:slideViewPr>
    <p:cSldViewPr snapToGrid="0">
      <p:cViewPr varScale="1">
        <p:scale>
          <a:sx n="110" d="100"/>
          <a:sy n="110" d="100"/>
        </p:scale>
        <p:origin x="132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CECBA-B7FC-124B-8DC6-11B02F811184}"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1C945-CC42-0645-8D22-EB2EE81EBA0E}" type="slidenum">
              <a:rPr lang="en-US" smtClean="0"/>
              <a:t>‹#›</a:t>
            </a:fld>
            <a:endParaRPr lang="en-US"/>
          </a:p>
        </p:txBody>
      </p:sp>
    </p:spTree>
    <p:extLst>
      <p:ext uri="{BB962C8B-B14F-4D97-AF65-F5344CB8AC3E}">
        <p14:creationId xmlns:p14="http://schemas.microsoft.com/office/powerpoint/2010/main" val="268132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talk about how health informatics impacts both the quality and cost of care, specifically looking at how socioeconomic status influences health outcomes. This is important because not all populations benefit equally from healthcare advancements.</a:t>
            </a:r>
          </a:p>
          <a:p>
            <a:r>
              <a:rPr lang="en-US" b="1" dirty="0"/>
              <a:t>Class Example:</a:t>
            </a:r>
            <a:r>
              <a:rPr lang="en-US" dirty="0"/>
              <a:t> Mention that someone living in a "food desert" with low SES is statistically more likely to develop chronic conditions like diabetes and has less access to the specialized data tools to manage it.</a:t>
            </a:r>
          </a:p>
        </p:txBody>
      </p:sp>
      <p:sp>
        <p:nvSpPr>
          <p:cNvPr id="4" name="Slide Number Placeholder 3"/>
          <p:cNvSpPr>
            <a:spLocks noGrp="1"/>
          </p:cNvSpPr>
          <p:nvPr>
            <p:ph type="sldNum" sz="quarter" idx="5"/>
          </p:nvPr>
        </p:nvSpPr>
        <p:spPr/>
        <p:txBody>
          <a:bodyPr/>
          <a:lstStyle/>
          <a:p>
            <a:fld id="{09B1C945-CC42-0645-8D22-EB2EE81EBA0E}" type="slidenum">
              <a:rPr lang="en-US" smtClean="0"/>
              <a:t>1</a:t>
            </a:fld>
            <a:endParaRPr lang="en-US"/>
          </a:p>
        </p:txBody>
      </p:sp>
    </p:spTree>
    <p:extLst>
      <p:ext uri="{BB962C8B-B14F-4D97-AF65-F5344CB8AC3E}">
        <p14:creationId xmlns:p14="http://schemas.microsoft.com/office/powerpoint/2010/main" val="1142955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shows that individuals with lower socioeconomic status tend to have worse health outcomes and less access to care. Health informatics, which combines data and technology, has the potential to improve care quality and reduce costs, but only if it is implemented equitably.</a:t>
            </a:r>
          </a:p>
          <a:p>
            <a:r>
              <a:rPr lang="en-US" b="1" dirty="0"/>
              <a:t>The Core Concept:</a:t>
            </a:r>
            <a:r>
              <a:rPr lang="en-US" dirty="0"/>
              <a:t> Informatics is the bridge between raw data and better patient health.</a:t>
            </a:r>
          </a:p>
          <a:p>
            <a:r>
              <a:rPr lang="en-US" b="1" dirty="0"/>
              <a:t>Talking Point:</a:t>
            </a:r>
            <a:r>
              <a:rPr lang="en-US" dirty="0"/>
              <a:t> It allows us to see the "big picture" through population health monitoring.</a:t>
            </a:r>
          </a:p>
          <a:p>
            <a:r>
              <a:rPr lang="en-US" b="1" dirty="0"/>
              <a:t>Class Example:</a:t>
            </a:r>
            <a:r>
              <a:rPr lang="en-US" dirty="0"/>
              <a:t> Use the example of a city health department using data to identify a specific neighborhood with high asthma rates, allowing them to send mobile clinics directly to those underserved streets.</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2</a:t>
            </a:fld>
            <a:endParaRPr lang="en-US"/>
          </a:p>
        </p:txBody>
      </p:sp>
    </p:spTree>
    <p:extLst>
      <p:ext uri="{BB962C8B-B14F-4D97-AF65-F5344CB8AC3E}">
        <p14:creationId xmlns:p14="http://schemas.microsoft.com/office/powerpoint/2010/main" val="177207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informatics plays a major role in public health by allowing systems to track disease trends and identify at-risk populations. Studies show that increased access to healthcare technology can reduce disparities, especially for lower-income populations.</a:t>
            </a:r>
          </a:p>
          <a:p>
            <a:r>
              <a:rPr lang="en-US" sz="1200" b="1" kern="1200" dirty="0">
                <a:solidFill>
                  <a:schemeClr val="tx1"/>
                </a:solidFill>
                <a:effectLst/>
                <a:latin typeface="+mn-lt"/>
                <a:ea typeface="+mn-ea"/>
                <a:cs typeface="+mn-cs"/>
              </a:rPr>
              <a:t>The Core Concept:</a:t>
            </a:r>
            <a:r>
              <a:rPr lang="en-US" sz="1200" kern="1200" dirty="0">
                <a:solidFill>
                  <a:schemeClr val="tx1"/>
                </a:solidFill>
                <a:effectLst/>
                <a:latin typeface="+mn-lt"/>
                <a:ea typeface="+mn-ea"/>
                <a:cs typeface="+mn-cs"/>
              </a:rPr>
              <a:t> Technology makes healthcare safer and faster.</a:t>
            </a:r>
          </a:p>
          <a:p>
            <a:r>
              <a:rPr lang="en-US" sz="1200" b="1" kern="1200" dirty="0">
                <a:solidFill>
                  <a:schemeClr val="tx1"/>
                </a:solidFill>
                <a:effectLst/>
                <a:latin typeface="+mn-lt"/>
                <a:ea typeface="+mn-ea"/>
                <a:cs typeface="+mn-cs"/>
              </a:rPr>
              <a:t>Talking Point:</a:t>
            </a:r>
            <a:r>
              <a:rPr lang="en-US" sz="1200" kern="1200" dirty="0">
                <a:solidFill>
                  <a:schemeClr val="tx1"/>
                </a:solidFill>
                <a:effectLst/>
                <a:latin typeface="+mn-lt"/>
                <a:ea typeface="+mn-ea"/>
                <a:cs typeface="+mn-cs"/>
              </a:rPr>
              <a:t> Automation reduces human error, especially with medications and emergency response.</a:t>
            </a:r>
          </a:p>
          <a:p>
            <a:r>
              <a:rPr lang="en-US" sz="1200" b="1" kern="1200" dirty="0">
                <a:solidFill>
                  <a:schemeClr val="tx1"/>
                </a:solidFill>
                <a:effectLst/>
                <a:latin typeface="+mn-lt"/>
                <a:ea typeface="+mn-ea"/>
                <a:cs typeface="+mn-cs"/>
              </a:rPr>
              <a:t>Class Example:</a:t>
            </a:r>
            <a:r>
              <a:rPr lang="en-US" sz="1200" kern="1200" dirty="0">
                <a:solidFill>
                  <a:schemeClr val="tx1"/>
                </a:solidFill>
                <a:effectLst/>
                <a:latin typeface="+mn-lt"/>
                <a:ea typeface="+mn-ea"/>
                <a:cs typeface="+mn-cs"/>
              </a:rPr>
              <a:t> Talk about Electronic Health Records (EHRs). If a patient is unconscious in the ER, the doctor can instantly see their allergy list, preventing a fatal drug reaction.</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3</a:t>
            </a:fld>
            <a:endParaRPr lang="en-US"/>
          </a:p>
        </p:txBody>
      </p:sp>
    </p:spTree>
    <p:extLst>
      <p:ext uri="{BB962C8B-B14F-4D97-AF65-F5344CB8AC3E}">
        <p14:creationId xmlns:p14="http://schemas.microsoft.com/office/powerpoint/2010/main" val="1941849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information technology improves quality by helping providers coordinate care, reduce medication errors, and make better clinical decisions. This is especially important in high-pressure environments like emergency departments.</a:t>
            </a:r>
          </a:p>
        </p:txBody>
      </p:sp>
      <p:sp>
        <p:nvSpPr>
          <p:cNvPr id="4" name="Slide Number Placeholder 3"/>
          <p:cNvSpPr>
            <a:spLocks noGrp="1"/>
          </p:cNvSpPr>
          <p:nvPr>
            <p:ph type="sldNum" sz="quarter" idx="5"/>
          </p:nvPr>
        </p:nvSpPr>
        <p:spPr/>
        <p:txBody>
          <a:bodyPr/>
          <a:lstStyle/>
          <a:p>
            <a:fld id="{09B1C945-CC42-0645-8D22-EB2EE81EBA0E}" type="slidenum">
              <a:rPr lang="en-US" smtClean="0"/>
              <a:t>4</a:t>
            </a:fld>
            <a:endParaRPr lang="en-US"/>
          </a:p>
        </p:txBody>
      </p:sp>
    </p:spTree>
    <p:extLst>
      <p:ext uri="{BB962C8B-B14F-4D97-AF65-F5344CB8AC3E}">
        <p14:creationId xmlns:p14="http://schemas.microsoft.com/office/powerpoint/2010/main" val="2278767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Informatics can reduce long-term costs by improving efficiency and preventing unnecessary procedures. However, there are significant upfront costs associated with implementing these systems, including training and infrastructure.</a:t>
            </a:r>
          </a:p>
          <a:p>
            <a:r>
              <a:rPr lang="en-US" sz="1200" b="1" kern="1200" dirty="0">
                <a:solidFill>
                  <a:schemeClr val="tx1"/>
                </a:solidFill>
                <a:effectLst/>
                <a:latin typeface="+mn-lt"/>
                <a:ea typeface="+mn-ea"/>
                <a:cs typeface="+mn-cs"/>
              </a:rPr>
              <a:t>The Core Concept:</a:t>
            </a:r>
            <a:r>
              <a:rPr lang="en-US" sz="1200" kern="1200" dirty="0">
                <a:solidFill>
                  <a:schemeClr val="tx1"/>
                </a:solidFill>
                <a:effectLst/>
                <a:latin typeface="+mn-lt"/>
                <a:ea typeface="+mn-ea"/>
                <a:cs typeface="+mn-cs"/>
              </a:rPr>
              <a:t> Better tech is expensive to start, but cheaper to maintain.</a:t>
            </a:r>
          </a:p>
          <a:p>
            <a:r>
              <a:rPr lang="en-US" sz="1200" b="1" kern="1200" dirty="0">
                <a:solidFill>
                  <a:schemeClr val="tx1"/>
                </a:solidFill>
                <a:effectLst/>
                <a:latin typeface="+mn-lt"/>
                <a:ea typeface="+mn-ea"/>
                <a:cs typeface="+mn-cs"/>
              </a:rPr>
              <a:t>Talking Point:</a:t>
            </a:r>
            <a:r>
              <a:rPr lang="en-US" sz="1200" kern="1200" dirty="0">
                <a:solidFill>
                  <a:schemeClr val="tx1"/>
                </a:solidFill>
                <a:effectLst/>
                <a:latin typeface="+mn-lt"/>
                <a:ea typeface="+mn-ea"/>
                <a:cs typeface="+mn-cs"/>
              </a:rPr>
              <a:t> 82% of digital health interventions are actually cost-effective.</a:t>
            </a:r>
          </a:p>
          <a:p>
            <a:r>
              <a:rPr lang="en-US" sz="1200" b="1" kern="1200" dirty="0">
                <a:solidFill>
                  <a:schemeClr val="tx1"/>
                </a:solidFill>
                <a:effectLst/>
                <a:latin typeface="+mn-lt"/>
                <a:ea typeface="+mn-ea"/>
                <a:cs typeface="+mn-cs"/>
              </a:rPr>
              <a:t>Class Example:</a:t>
            </a:r>
            <a:r>
              <a:rPr lang="en-US" sz="1200" kern="1200" dirty="0">
                <a:solidFill>
                  <a:schemeClr val="tx1"/>
                </a:solidFill>
                <a:effectLst/>
                <a:latin typeface="+mn-lt"/>
                <a:ea typeface="+mn-ea"/>
                <a:cs typeface="+mn-cs"/>
              </a:rPr>
              <a:t> Explain how a simple SMS (text) reminder for a patient to take their blood pressure medication costs pennies, but prevents a $50,000 hospital stay for a stroke later</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5</a:t>
            </a:fld>
            <a:endParaRPr lang="en-US"/>
          </a:p>
        </p:txBody>
      </p:sp>
    </p:spTree>
    <p:extLst>
      <p:ext uri="{BB962C8B-B14F-4D97-AF65-F5344CB8AC3E}">
        <p14:creationId xmlns:p14="http://schemas.microsoft.com/office/powerpoint/2010/main" val="20439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is the digital divide. Lower-income populations often have less access to technology. There are also issues with systems not communicating well with each other, and concerns about data privacy. Additionally, AI systems can introduce bias if they are trained on non-representative data.</a:t>
            </a:r>
          </a:p>
          <a:p>
            <a:r>
              <a:rPr lang="en-US" sz="1200" b="1" kern="1200" dirty="0">
                <a:solidFill>
                  <a:schemeClr val="tx1"/>
                </a:solidFill>
                <a:effectLst/>
                <a:latin typeface="+mn-lt"/>
                <a:ea typeface="+mn-ea"/>
                <a:cs typeface="+mn-cs"/>
              </a:rPr>
              <a:t>Challenges &amp; The Digital Divide</a:t>
            </a:r>
          </a:p>
          <a:p>
            <a:r>
              <a:rPr lang="en-US" sz="1200" b="1" kern="1200" dirty="0">
                <a:solidFill>
                  <a:schemeClr val="tx1"/>
                </a:solidFill>
                <a:effectLst/>
                <a:latin typeface="+mn-lt"/>
                <a:ea typeface="+mn-ea"/>
                <a:cs typeface="+mn-cs"/>
              </a:rPr>
              <a:t>The Core Concept:</a:t>
            </a:r>
            <a:r>
              <a:rPr lang="en-US" sz="1200" kern="1200" dirty="0">
                <a:solidFill>
                  <a:schemeClr val="tx1"/>
                </a:solidFill>
                <a:effectLst/>
                <a:latin typeface="+mn-lt"/>
                <a:ea typeface="+mn-ea"/>
                <a:cs typeface="+mn-cs"/>
              </a:rPr>
              <a:t> If the tech is only for the wealthy, it's not a solution.</a:t>
            </a:r>
          </a:p>
          <a:p>
            <a:r>
              <a:rPr lang="en-US" sz="1200" b="1" kern="1200" dirty="0">
                <a:solidFill>
                  <a:schemeClr val="tx1"/>
                </a:solidFill>
                <a:effectLst/>
                <a:latin typeface="+mn-lt"/>
                <a:ea typeface="+mn-ea"/>
                <a:cs typeface="+mn-cs"/>
              </a:rPr>
              <a:t>Talking Point:</a:t>
            </a:r>
            <a:r>
              <a:rPr lang="en-US" sz="1200" kern="1200" dirty="0">
                <a:solidFill>
                  <a:schemeClr val="tx1"/>
                </a:solidFill>
                <a:effectLst/>
                <a:latin typeface="+mn-lt"/>
                <a:ea typeface="+mn-ea"/>
                <a:cs typeface="+mn-cs"/>
              </a:rPr>
              <a:t> 29% of rural adults can't even access AI tools. We also have to watch out for "Algorithm Bias".</a:t>
            </a:r>
          </a:p>
          <a:p>
            <a:r>
              <a:rPr lang="en-US" sz="1200" b="1" kern="1200" dirty="0">
                <a:solidFill>
                  <a:schemeClr val="tx1"/>
                </a:solidFill>
                <a:effectLst/>
                <a:latin typeface="+mn-lt"/>
                <a:ea typeface="+mn-ea"/>
                <a:cs typeface="+mn-cs"/>
              </a:rPr>
              <a:t>Class Example:</a:t>
            </a:r>
            <a:r>
              <a:rPr lang="en-US" sz="1200" kern="1200" dirty="0">
                <a:solidFill>
                  <a:schemeClr val="tx1"/>
                </a:solidFill>
                <a:effectLst/>
                <a:latin typeface="+mn-lt"/>
                <a:ea typeface="+mn-ea"/>
                <a:cs typeface="+mn-cs"/>
              </a:rPr>
              <a:t> Discuss how an AI trained only on data from wealthy patients might fail to accurately diagnose a patient from a different demographic, unintentionally worsening the gap.</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6</a:t>
            </a:fld>
            <a:endParaRPr lang="en-US"/>
          </a:p>
        </p:txBody>
      </p:sp>
    </p:spTree>
    <p:extLst>
      <p:ext uri="{BB962C8B-B14F-4D97-AF65-F5344CB8AC3E}">
        <p14:creationId xmlns:p14="http://schemas.microsoft.com/office/powerpoint/2010/main" val="988682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consistently shows that socioeconomic status plays a major role in health outcomes. While technology can reduce disparities, the benefits are not evenly distributed. Some studies also show improvements in care quality with EHRs and AI, but these tools can still introduce bias.</a:t>
            </a:r>
          </a:p>
        </p:txBody>
      </p:sp>
      <p:sp>
        <p:nvSpPr>
          <p:cNvPr id="4" name="Slide Number Placeholder 3"/>
          <p:cNvSpPr>
            <a:spLocks noGrp="1"/>
          </p:cNvSpPr>
          <p:nvPr>
            <p:ph type="sldNum" sz="quarter" idx="5"/>
          </p:nvPr>
        </p:nvSpPr>
        <p:spPr/>
        <p:txBody>
          <a:bodyPr/>
          <a:lstStyle/>
          <a:p>
            <a:fld id="{09B1C945-CC42-0645-8D22-EB2EE81EBA0E}" type="slidenum">
              <a:rPr lang="en-US" smtClean="0"/>
              <a:t>10</a:t>
            </a:fld>
            <a:endParaRPr lang="en-US" dirty="0"/>
          </a:p>
        </p:txBody>
      </p:sp>
    </p:spTree>
    <p:extLst>
      <p:ext uri="{BB962C8B-B14F-4D97-AF65-F5344CB8AC3E}">
        <p14:creationId xmlns:p14="http://schemas.microsoft.com/office/powerpoint/2010/main" val="1062015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research is focusing on improving AI, expanding telehealth, and integrating social determinants of health into care models. There is also growing interest in using synthetic data to reduce bias and improve fairness in healthcare systems.</a:t>
            </a:r>
          </a:p>
          <a:p>
            <a:r>
              <a:rPr lang="en-US" sz="1200" b="1" kern="1200" dirty="0">
                <a:solidFill>
                  <a:schemeClr val="tx1"/>
                </a:solidFill>
                <a:effectLst/>
                <a:latin typeface="+mn-lt"/>
                <a:ea typeface="+mn-ea"/>
                <a:cs typeface="+mn-cs"/>
              </a:rPr>
              <a:t>The Core Concept:</a:t>
            </a:r>
            <a:r>
              <a:rPr lang="en-US" sz="1200" kern="1200" dirty="0">
                <a:solidFill>
                  <a:schemeClr val="tx1"/>
                </a:solidFill>
                <a:effectLst/>
                <a:latin typeface="+mn-lt"/>
                <a:ea typeface="+mn-ea"/>
                <a:cs typeface="+mn-cs"/>
              </a:rPr>
              <a:t> We need to integrate "Social Determinants of Health" (SDOH) into our data.</a:t>
            </a:r>
          </a:p>
          <a:p>
            <a:r>
              <a:rPr lang="en-US" sz="1200" b="1" kern="1200" dirty="0">
                <a:solidFill>
                  <a:schemeClr val="tx1"/>
                </a:solidFill>
                <a:effectLst/>
                <a:latin typeface="+mn-lt"/>
                <a:ea typeface="+mn-ea"/>
                <a:cs typeface="+mn-cs"/>
              </a:rPr>
              <a:t>Talking Point:</a:t>
            </a:r>
            <a:r>
              <a:rPr lang="en-US" sz="1200" kern="1200" dirty="0">
                <a:solidFill>
                  <a:schemeClr val="tx1"/>
                </a:solidFill>
                <a:effectLst/>
                <a:latin typeface="+mn-lt"/>
                <a:ea typeface="+mn-ea"/>
                <a:cs typeface="+mn-cs"/>
              </a:rPr>
              <a:t> Future systems should use "Synthetic Data" to train AI without compromising privacy or introducing bias.</a:t>
            </a:r>
          </a:p>
          <a:p>
            <a:r>
              <a:rPr lang="en-US" sz="1200" b="1" kern="1200" dirty="0">
                <a:solidFill>
                  <a:schemeClr val="tx1"/>
                </a:solidFill>
                <a:effectLst/>
                <a:latin typeface="+mn-lt"/>
                <a:ea typeface="+mn-ea"/>
                <a:cs typeface="+mn-cs"/>
              </a:rPr>
              <a:t>Class Example:</a:t>
            </a:r>
            <a:r>
              <a:rPr lang="en-US" sz="1200" kern="1200" dirty="0">
                <a:solidFill>
                  <a:schemeClr val="tx1"/>
                </a:solidFill>
                <a:effectLst/>
                <a:latin typeface="+mn-lt"/>
                <a:ea typeface="+mn-ea"/>
                <a:cs typeface="+mn-cs"/>
              </a:rPr>
              <a:t> Imagine a future EHR that doesn't just show lab results, but also flags that a patient's local pharmacy recently closed, prompting the doctor to set up mail-order delivery immediately.</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11</a:t>
            </a:fld>
            <a:endParaRPr lang="en-US" dirty="0"/>
          </a:p>
        </p:txBody>
      </p:sp>
    </p:spTree>
    <p:extLst>
      <p:ext uri="{BB962C8B-B14F-4D97-AF65-F5344CB8AC3E}">
        <p14:creationId xmlns:p14="http://schemas.microsoft.com/office/powerpoint/2010/main" val="630549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used for this presentation </a:t>
            </a:r>
          </a:p>
        </p:txBody>
      </p:sp>
      <p:sp>
        <p:nvSpPr>
          <p:cNvPr id="4" name="Slide Number Placeholder 3"/>
          <p:cNvSpPr>
            <a:spLocks noGrp="1"/>
          </p:cNvSpPr>
          <p:nvPr>
            <p:ph type="sldNum" sz="quarter" idx="5"/>
          </p:nvPr>
        </p:nvSpPr>
        <p:spPr/>
        <p:txBody>
          <a:bodyPr/>
          <a:lstStyle/>
          <a:p>
            <a:fld id="{09B1C945-CC42-0645-8D22-EB2EE81EBA0E}" type="slidenum">
              <a:rPr lang="en-US" smtClean="0"/>
              <a:t>13</a:t>
            </a:fld>
            <a:endParaRPr lang="en-US"/>
          </a:p>
        </p:txBody>
      </p:sp>
    </p:spTree>
    <p:extLst>
      <p:ext uri="{BB962C8B-B14F-4D97-AF65-F5344CB8AC3E}">
        <p14:creationId xmlns:p14="http://schemas.microsoft.com/office/powerpoint/2010/main" val="797986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4/14/26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4/14/26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C05B-599A-2CF7-1AD0-C4A53532FA52}"/>
              </a:ext>
            </a:extLst>
          </p:cNvPr>
          <p:cNvSpPr>
            <a:spLocks noGrp="1"/>
          </p:cNvSpPr>
          <p:nvPr>
            <p:ph type="ctrTitle"/>
          </p:nvPr>
        </p:nvSpPr>
        <p:spPr>
          <a:xfrm>
            <a:off x="1876423" y="868362"/>
            <a:ext cx="8791575" cy="2387600"/>
          </a:xfrm>
        </p:spPr>
        <p:txBody>
          <a:bodyPr>
            <a:normAutofit/>
          </a:bodyPr>
          <a:lstStyle/>
          <a:p>
            <a:r>
              <a:rPr lang="en-US" sz="4000" dirty="0"/>
              <a:t>Quality cost of care in health informatics Focus: Socioeconomic status (</a:t>
            </a:r>
            <a:r>
              <a:rPr lang="en-US" sz="4000" dirty="0" err="1"/>
              <a:t>ses</a:t>
            </a:r>
            <a:r>
              <a:rPr lang="en-US" sz="4000" dirty="0"/>
              <a:t>) and outcomes</a:t>
            </a:r>
          </a:p>
        </p:txBody>
      </p:sp>
      <p:sp>
        <p:nvSpPr>
          <p:cNvPr id="3" name="Subtitle 2">
            <a:extLst>
              <a:ext uri="{FF2B5EF4-FFF2-40B4-BE49-F238E27FC236}">
                <a16:creationId xmlns:a16="http://schemas.microsoft.com/office/drawing/2014/main" id="{EC144043-F213-355E-AEB6-544C71EB0FD0}"/>
              </a:ext>
            </a:extLst>
          </p:cNvPr>
          <p:cNvSpPr>
            <a:spLocks noGrp="1"/>
          </p:cNvSpPr>
          <p:nvPr>
            <p:ph type="subTitle" idx="1"/>
          </p:nvPr>
        </p:nvSpPr>
        <p:spPr/>
        <p:txBody>
          <a:bodyPr>
            <a:normAutofit fontScale="92500" lnSpcReduction="20000"/>
          </a:bodyPr>
          <a:lstStyle/>
          <a:p>
            <a:r>
              <a:rPr lang="en-US" dirty="0"/>
              <a:t>Tom Ciufo</a:t>
            </a:r>
          </a:p>
          <a:p>
            <a:r>
              <a:rPr lang="en-US" dirty="0"/>
              <a:t>Hasham khan</a:t>
            </a:r>
          </a:p>
          <a:p>
            <a:r>
              <a:rPr lang="en-US" dirty="0"/>
              <a:t>Sat 5424</a:t>
            </a:r>
          </a:p>
          <a:p>
            <a:r>
              <a:rPr lang="en-US" dirty="0"/>
              <a:t>04/16/2026</a:t>
            </a:r>
          </a:p>
        </p:txBody>
      </p:sp>
    </p:spTree>
    <p:extLst>
      <p:ext uri="{BB962C8B-B14F-4D97-AF65-F5344CB8AC3E}">
        <p14:creationId xmlns:p14="http://schemas.microsoft.com/office/powerpoint/2010/main" val="1036264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A844-8964-6449-3488-95874A4A251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6385A30-4247-8BF0-EE23-266B7FF3C5D1}"/>
              </a:ext>
            </a:extLst>
          </p:cNvPr>
          <p:cNvSpPr>
            <a:spLocks noGrp="1"/>
          </p:cNvSpPr>
          <p:nvPr>
            <p:ph idx="1"/>
          </p:nvPr>
        </p:nvSpPr>
        <p:spPr/>
        <p:txBody>
          <a:bodyPr>
            <a:normAutofit fontScale="92500" lnSpcReduction="10000"/>
          </a:bodyPr>
          <a:lstStyle/>
          <a:p>
            <a:r>
              <a:rPr lang="en-US" dirty="0"/>
              <a:t>Healthcare disparities linked to socioeconomic status (SES)</a:t>
            </a:r>
          </a:p>
          <a:p>
            <a:r>
              <a:rPr lang="en-US" dirty="0"/>
              <a:t>Lower SES → worse health outcomes and access</a:t>
            </a:r>
          </a:p>
          <a:p>
            <a:r>
              <a:rPr lang="en-US" dirty="0"/>
              <a:t>Health Informatics = technology + data in healthcare</a:t>
            </a:r>
          </a:p>
          <a:p>
            <a:r>
              <a:rPr lang="en-US" dirty="0"/>
              <a:t>Goal: to improve quality and reduce cost</a:t>
            </a:r>
          </a:p>
          <a:p>
            <a:pPr marL="0" indent="0">
              <a:buNone/>
            </a:pPr>
            <a:endParaRPr lang="en-US" dirty="0"/>
          </a:p>
          <a:p>
            <a:pPr marL="0" indent="0" algn="ctr">
              <a:buNone/>
            </a:pPr>
            <a:r>
              <a:rPr lang="en-US" dirty="0"/>
              <a:t>Living in a "food desert" (low SES) increases</a:t>
            </a:r>
          </a:p>
          <a:p>
            <a:pPr marL="0" indent="0" algn="ctr">
              <a:buNone/>
            </a:pPr>
            <a:r>
              <a:rPr lang="en-US" dirty="0"/>
              <a:t>chronic disease risk, HI can track these specific geographic disparities.</a:t>
            </a:r>
          </a:p>
        </p:txBody>
      </p:sp>
    </p:spTree>
    <p:extLst>
      <p:ext uri="{BB962C8B-B14F-4D97-AF65-F5344CB8AC3E}">
        <p14:creationId xmlns:p14="http://schemas.microsoft.com/office/powerpoint/2010/main" val="109218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21E2F-5A1D-B2B5-6D18-292B3BF29A3D}"/>
              </a:ext>
            </a:extLst>
          </p:cNvPr>
          <p:cNvSpPr>
            <a:spLocks noGrp="1"/>
          </p:cNvSpPr>
          <p:nvPr>
            <p:ph type="title"/>
          </p:nvPr>
        </p:nvSpPr>
        <p:spPr/>
        <p:txBody>
          <a:bodyPr/>
          <a:lstStyle/>
          <a:p>
            <a:r>
              <a:rPr lang="en-US" dirty="0"/>
              <a:t>Impact on public health</a:t>
            </a:r>
          </a:p>
        </p:txBody>
      </p:sp>
      <p:sp>
        <p:nvSpPr>
          <p:cNvPr id="3" name="Content Placeholder 2">
            <a:extLst>
              <a:ext uri="{FF2B5EF4-FFF2-40B4-BE49-F238E27FC236}">
                <a16:creationId xmlns:a16="http://schemas.microsoft.com/office/drawing/2014/main" id="{695AB2AC-449E-127C-5904-38807FEC6752}"/>
              </a:ext>
            </a:extLst>
          </p:cNvPr>
          <p:cNvSpPr>
            <a:spLocks noGrp="1"/>
          </p:cNvSpPr>
          <p:nvPr>
            <p:ph idx="1"/>
          </p:nvPr>
        </p:nvSpPr>
        <p:spPr/>
        <p:txBody>
          <a:bodyPr>
            <a:normAutofit fontScale="92500" lnSpcReduction="10000"/>
          </a:bodyPr>
          <a:lstStyle/>
          <a:p>
            <a:r>
              <a:rPr lang="en-US" dirty="0"/>
              <a:t>Technology reduces healthcare disparities</a:t>
            </a:r>
          </a:p>
          <a:p>
            <a:r>
              <a:rPr lang="en-US" dirty="0"/>
              <a:t>Improves access for underserved populations</a:t>
            </a:r>
          </a:p>
          <a:p>
            <a:r>
              <a:rPr lang="en-US" dirty="0"/>
              <a:t>Enables population health monitoring</a:t>
            </a:r>
          </a:p>
          <a:p>
            <a:r>
              <a:rPr lang="en-US" dirty="0"/>
              <a:t>Supports data driven interventions</a:t>
            </a:r>
          </a:p>
          <a:p>
            <a:pPr marL="0" indent="0">
              <a:buNone/>
            </a:pPr>
            <a:endParaRPr lang="en-US" dirty="0"/>
          </a:p>
          <a:p>
            <a:pPr marL="0" indent="0" algn="ctr">
              <a:buNone/>
            </a:pPr>
            <a:r>
              <a:rPr lang="en-US" dirty="0"/>
              <a:t>A city health department using data to identify neighborhoods with high asthma rates to deploy mobile clinics effectively.</a:t>
            </a:r>
          </a:p>
        </p:txBody>
      </p:sp>
    </p:spTree>
    <p:extLst>
      <p:ext uri="{BB962C8B-B14F-4D97-AF65-F5344CB8AC3E}">
        <p14:creationId xmlns:p14="http://schemas.microsoft.com/office/powerpoint/2010/main" val="1755799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AD0E7-78B0-AAC1-50D1-69517FEA3E71}"/>
              </a:ext>
            </a:extLst>
          </p:cNvPr>
          <p:cNvSpPr>
            <a:spLocks noGrp="1"/>
          </p:cNvSpPr>
          <p:nvPr>
            <p:ph type="title"/>
          </p:nvPr>
        </p:nvSpPr>
        <p:spPr/>
        <p:txBody>
          <a:bodyPr/>
          <a:lstStyle/>
          <a:p>
            <a:r>
              <a:rPr lang="en-US" dirty="0"/>
              <a:t>Improving quality of care</a:t>
            </a:r>
          </a:p>
        </p:txBody>
      </p:sp>
      <p:sp>
        <p:nvSpPr>
          <p:cNvPr id="3" name="Content Placeholder 2">
            <a:extLst>
              <a:ext uri="{FF2B5EF4-FFF2-40B4-BE49-F238E27FC236}">
                <a16:creationId xmlns:a16="http://schemas.microsoft.com/office/drawing/2014/main" id="{BDA19D53-D554-F1FB-77AF-8D37A51D3BDA}"/>
              </a:ext>
            </a:extLst>
          </p:cNvPr>
          <p:cNvSpPr>
            <a:spLocks noGrp="1"/>
          </p:cNvSpPr>
          <p:nvPr>
            <p:ph idx="1"/>
          </p:nvPr>
        </p:nvSpPr>
        <p:spPr/>
        <p:txBody>
          <a:bodyPr>
            <a:normAutofit lnSpcReduction="10000"/>
          </a:bodyPr>
          <a:lstStyle/>
          <a:p>
            <a:r>
              <a:rPr lang="en-US" dirty="0"/>
              <a:t>Better care coordination</a:t>
            </a:r>
          </a:p>
          <a:p>
            <a:r>
              <a:rPr lang="en-US" dirty="0"/>
              <a:t>Reduced medication errors</a:t>
            </a:r>
          </a:p>
          <a:p>
            <a:r>
              <a:rPr lang="en-US" dirty="0"/>
              <a:t>Improved clinical decision making</a:t>
            </a:r>
          </a:p>
          <a:p>
            <a:r>
              <a:rPr lang="en-US" dirty="0"/>
              <a:t>Faster treatment in emergency settings</a:t>
            </a:r>
          </a:p>
          <a:p>
            <a:pPr marL="0" indent="0" algn="ctr">
              <a:buNone/>
            </a:pPr>
            <a:r>
              <a:rPr lang="en-US" dirty="0"/>
              <a:t>Electronic Health Records (EHRs) allow ER doctors to instantly see a patient's allergy list, preventing fatal drug reactions in unconscious patients.</a:t>
            </a:r>
          </a:p>
        </p:txBody>
      </p:sp>
    </p:spTree>
    <p:extLst>
      <p:ext uri="{BB962C8B-B14F-4D97-AF65-F5344CB8AC3E}">
        <p14:creationId xmlns:p14="http://schemas.microsoft.com/office/powerpoint/2010/main" val="87904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4F98-5A25-8280-EA76-84584F672F35}"/>
              </a:ext>
            </a:extLst>
          </p:cNvPr>
          <p:cNvSpPr>
            <a:spLocks noGrp="1"/>
          </p:cNvSpPr>
          <p:nvPr>
            <p:ph type="title"/>
          </p:nvPr>
        </p:nvSpPr>
        <p:spPr/>
        <p:txBody>
          <a:bodyPr/>
          <a:lstStyle/>
          <a:p>
            <a:r>
              <a:rPr lang="en-US" dirty="0"/>
              <a:t>Impact on cost of care</a:t>
            </a:r>
          </a:p>
        </p:txBody>
      </p:sp>
      <p:sp>
        <p:nvSpPr>
          <p:cNvPr id="3" name="Content Placeholder 2">
            <a:extLst>
              <a:ext uri="{FF2B5EF4-FFF2-40B4-BE49-F238E27FC236}">
                <a16:creationId xmlns:a16="http://schemas.microsoft.com/office/drawing/2014/main" id="{DF0EE343-A87B-798B-F554-99A184960B63}"/>
              </a:ext>
            </a:extLst>
          </p:cNvPr>
          <p:cNvSpPr>
            <a:spLocks noGrp="1"/>
          </p:cNvSpPr>
          <p:nvPr>
            <p:ph idx="1"/>
          </p:nvPr>
        </p:nvSpPr>
        <p:spPr/>
        <p:txBody>
          <a:bodyPr>
            <a:normAutofit fontScale="92500" lnSpcReduction="10000"/>
          </a:bodyPr>
          <a:lstStyle/>
          <a:p>
            <a:r>
              <a:rPr lang="en-US" dirty="0"/>
              <a:t>Digital health interventions often are more cost effective</a:t>
            </a:r>
          </a:p>
          <a:p>
            <a:r>
              <a:rPr lang="en-US" dirty="0"/>
              <a:t>Preventative care reduces long term costs</a:t>
            </a:r>
          </a:p>
          <a:p>
            <a:r>
              <a:rPr lang="en-US" dirty="0"/>
              <a:t>SMS/Telehealth reduce chronic disease costs</a:t>
            </a:r>
          </a:p>
          <a:p>
            <a:r>
              <a:rPr lang="en-US" dirty="0"/>
              <a:t>High implementation costs</a:t>
            </a:r>
          </a:p>
          <a:p>
            <a:r>
              <a:rPr lang="en-US" dirty="0"/>
              <a:t>82% of digital health interventions are cost effective </a:t>
            </a:r>
          </a:p>
          <a:p>
            <a:pPr marL="0" indent="0">
              <a:buNone/>
            </a:pPr>
            <a:r>
              <a:rPr lang="en-US" dirty="0"/>
              <a:t>A simple SMS reminder for blood pressure medication costs pennies but can prevent a $50,000 hospital stay for a stroke</a:t>
            </a:r>
          </a:p>
          <a:p>
            <a:endParaRPr lang="en-US" dirty="0"/>
          </a:p>
        </p:txBody>
      </p:sp>
    </p:spTree>
    <p:extLst>
      <p:ext uri="{BB962C8B-B14F-4D97-AF65-F5344CB8AC3E}">
        <p14:creationId xmlns:p14="http://schemas.microsoft.com/office/powerpoint/2010/main" val="388616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FFC6-356E-216B-EEDF-AA0C4469EEC5}"/>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18E5A866-1774-399B-2E8E-A237791EAFC9}"/>
              </a:ext>
            </a:extLst>
          </p:cNvPr>
          <p:cNvSpPr>
            <a:spLocks noGrp="1"/>
          </p:cNvSpPr>
          <p:nvPr>
            <p:ph idx="1"/>
          </p:nvPr>
        </p:nvSpPr>
        <p:spPr/>
        <p:txBody>
          <a:bodyPr/>
          <a:lstStyle/>
          <a:p>
            <a:r>
              <a:rPr lang="en-US" dirty="0"/>
              <a:t>Digital divide (limited access to technology)</a:t>
            </a:r>
          </a:p>
          <a:p>
            <a:r>
              <a:rPr lang="en-US" dirty="0"/>
              <a:t>Interoperability issues between systems</a:t>
            </a:r>
          </a:p>
          <a:p>
            <a:r>
              <a:rPr lang="en-US" dirty="0"/>
              <a:t>Data privacy and security concerns</a:t>
            </a:r>
          </a:p>
          <a:p>
            <a:r>
              <a:rPr lang="en-US" dirty="0"/>
              <a:t>Low health literacy and technology adoption </a:t>
            </a:r>
          </a:p>
          <a:p>
            <a:r>
              <a:rPr lang="en-US" dirty="0"/>
              <a:t>Algorithm bias in AI</a:t>
            </a:r>
          </a:p>
          <a:p>
            <a:r>
              <a:rPr lang="en-US" dirty="0"/>
              <a:t>29% of rural adults lack access to AI tools</a:t>
            </a:r>
          </a:p>
        </p:txBody>
      </p:sp>
    </p:spTree>
    <p:extLst>
      <p:ext uri="{BB962C8B-B14F-4D97-AF65-F5344CB8AC3E}">
        <p14:creationId xmlns:p14="http://schemas.microsoft.com/office/powerpoint/2010/main" val="2138246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502920"/>
            <a:ext cx="9905999" cy="5288281"/>
          </a:xfrm>
        </p:spPr>
        <p:txBody>
          <a:bodyPr>
            <a:normAutofit fontScale="77500" lnSpcReduction="20000"/>
          </a:bodyPr>
          <a:lstStyle/>
          <a:p>
            <a:pPr marL="0" indent="0">
              <a:buNone/>
            </a:pPr>
            <a:r>
              <a:rPr lang="en-US" b="1" dirty="0"/>
              <a:t>                 Chronic Diabetes Management</a:t>
            </a:r>
          </a:p>
          <a:p>
            <a:pPr marL="0" indent="0">
              <a:buNone/>
            </a:pPr>
            <a:r>
              <a:rPr lang="en-US" dirty="0"/>
              <a:t>(</a:t>
            </a:r>
            <a:r>
              <a:rPr lang="en-US" b="1" dirty="0"/>
              <a:t>Socioeconomic Status (SES)</a:t>
            </a:r>
            <a:r>
              <a:rPr lang="en-US" dirty="0"/>
              <a:t>, </a:t>
            </a:r>
            <a:r>
              <a:rPr lang="en-US" b="1" dirty="0"/>
              <a:t>Health Informatics</a:t>
            </a:r>
            <a:r>
              <a:rPr lang="en-US" dirty="0"/>
              <a:t>, </a:t>
            </a:r>
            <a:r>
              <a:rPr lang="en-US" b="1" dirty="0"/>
              <a:t>Cost of Care, Quality</a:t>
            </a:r>
            <a:r>
              <a:rPr lang="en-US" dirty="0"/>
              <a:t> )</a:t>
            </a:r>
          </a:p>
          <a:p>
            <a:r>
              <a:rPr lang="en-US" dirty="0"/>
              <a:t>Imagine two patients, </a:t>
            </a:r>
            <a:r>
              <a:rPr lang="en-US" b="1" dirty="0"/>
              <a:t>Patient A</a:t>
            </a:r>
            <a:r>
              <a:rPr lang="en-US" dirty="0"/>
              <a:t> (High SES) and </a:t>
            </a:r>
            <a:r>
              <a:rPr lang="en-US" b="1" dirty="0"/>
              <a:t>Patient B</a:t>
            </a:r>
            <a:r>
              <a:rPr lang="en-US" dirty="0"/>
              <a:t> (Low SES), both diagnosed with Type 2 Diabetes. This example illustrates how informatics can either bridge the gap or widen it.</a:t>
            </a:r>
          </a:p>
          <a:p>
            <a:pPr marL="0" indent="0">
              <a:buNone/>
            </a:pPr>
            <a:r>
              <a:rPr lang="en-US" b="1" dirty="0"/>
              <a:t>1. The Power of Health Informatics (The Ideal Path)</a:t>
            </a:r>
          </a:p>
          <a:p>
            <a:r>
              <a:rPr lang="en-US" dirty="0"/>
              <a:t>In a perfect system, both patients use a </a:t>
            </a:r>
            <a:r>
              <a:rPr lang="en-US" b="1" dirty="0"/>
              <a:t>Digital Health Intervention</a:t>
            </a:r>
            <a:r>
              <a:rPr lang="en-US" dirty="0"/>
              <a:t>. They have wearable glucose monitors that sync data directly to their doctor’s </a:t>
            </a:r>
            <a:r>
              <a:rPr lang="en-US" b="1" dirty="0"/>
              <a:t>Electronic Health Record (EHR)</a:t>
            </a:r>
            <a:r>
              <a:rPr lang="en-US" dirty="0"/>
              <a:t>.</a:t>
            </a:r>
          </a:p>
          <a:p>
            <a:r>
              <a:rPr lang="en-US" b="1" dirty="0"/>
              <a:t>The Quality Benefit:</a:t>
            </a:r>
            <a:r>
              <a:rPr lang="en-US" dirty="0"/>
              <a:t> The system uses </a:t>
            </a:r>
            <a:r>
              <a:rPr lang="en-US" b="1" dirty="0"/>
              <a:t>Clinical Decision Support</a:t>
            </a:r>
            <a:r>
              <a:rPr lang="en-US" dirty="0"/>
              <a:t> to alert the doctor if their blood sugar spikes. This allows for </a:t>
            </a:r>
            <a:r>
              <a:rPr lang="en-US" b="1" dirty="0"/>
              <a:t>faster treatment</a:t>
            </a:r>
            <a:r>
              <a:rPr lang="en-US" dirty="0"/>
              <a:t> before an emergency happens.</a:t>
            </a:r>
          </a:p>
          <a:p>
            <a:r>
              <a:rPr lang="en-US" b="1" dirty="0"/>
              <a:t>The Cost Benefit:</a:t>
            </a:r>
            <a:r>
              <a:rPr lang="en-US" dirty="0"/>
              <a:t> By managing the disease via </a:t>
            </a:r>
            <a:r>
              <a:rPr lang="en-US" b="1" dirty="0"/>
              <a:t>Telehealth</a:t>
            </a:r>
            <a:r>
              <a:rPr lang="en-US" dirty="0"/>
              <a:t> and </a:t>
            </a:r>
            <a:r>
              <a:rPr lang="en-US" b="1" dirty="0"/>
              <a:t>SMS reminders</a:t>
            </a:r>
            <a:r>
              <a:rPr lang="en-US" dirty="0"/>
              <a:t>, the patients avoid a $20,000 emergency room visit for ketoacidosis. </a:t>
            </a:r>
            <a:r>
              <a:rPr lang="en-US" b="1" dirty="0"/>
              <a:t>Preventative care reduces long-term costs</a:t>
            </a:r>
            <a:r>
              <a:rPr lang="en-US" dirty="0"/>
              <a:t>.</a:t>
            </a:r>
          </a:p>
          <a:p>
            <a:endParaRPr lang="en-US" dirty="0"/>
          </a:p>
          <a:p>
            <a:endParaRPr lang="en-US" dirty="0"/>
          </a:p>
        </p:txBody>
      </p:sp>
    </p:spTree>
    <p:extLst>
      <p:ext uri="{BB962C8B-B14F-4D97-AF65-F5344CB8AC3E}">
        <p14:creationId xmlns:p14="http://schemas.microsoft.com/office/powerpoint/2010/main" val="1291975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1892" y="480060"/>
            <a:ext cx="9905999" cy="4724401"/>
          </a:xfrm>
        </p:spPr>
        <p:txBody>
          <a:bodyPr>
            <a:normAutofit fontScale="92500" lnSpcReduction="20000"/>
          </a:bodyPr>
          <a:lstStyle/>
          <a:p>
            <a:r>
              <a:rPr lang="en-US" b="1" dirty="0"/>
              <a:t>2. The SES Reality Check (The Barrier)</a:t>
            </a:r>
          </a:p>
          <a:p>
            <a:r>
              <a:rPr lang="en-US" dirty="0"/>
              <a:t>This is where </a:t>
            </a:r>
            <a:r>
              <a:rPr lang="en-US" b="1" dirty="0"/>
              <a:t>Socioeconomic Status</a:t>
            </a:r>
            <a:r>
              <a:rPr lang="en-US" dirty="0"/>
              <a:t> creates a disparity:</a:t>
            </a:r>
          </a:p>
          <a:p>
            <a:r>
              <a:rPr lang="en-US" b="1" dirty="0"/>
              <a:t>Access (The Digital Divide):</a:t>
            </a:r>
            <a:r>
              <a:rPr lang="en-US" dirty="0"/>
              <a:t> Patient A has high-speed internet and the latest smartphone. </a:t>
            </a:r>
            <a:r>
              <a:rPr lang="en-US" b="1" dirty="0"/>
              <a:t>Patient B</a:t>
            </a:r>
            <a:r>
              <a:rPr lang="en-US" dirty="0"/>
              <a:t> lives in a rural area where </a:t>
            </a:r>
            <a:r>
              <a:rPr lang="en-US" b="1" dirty="0"/>
              <a:t>29% of adults lack access to AI and digital tools</a:t>
            </a:r>
            <a:r>
              <a:rPr lang="en-US" dirty="0"/>
              <a:t>. They cannot sync their data.</a:t>
            </a:r>
          </a:p>
          <a:p>
            <a:r>
              <a:rPr lang="en-US" b="1" dirty="0"/>
              <a:t>Cost vs. Implementation:</a:t>
            </a:r>
            <a:r>
              <a:rPr lang="en-US" dirty="0"/>
              <a:t> While 82% of these tools are cost-effective , the </a:t>
            </a:r>
            <a:r>
              <a:rPr lang="en-US" b="1" dirty="0"/>
              <a:t>high implementation costs</a:t>
            </a:r>
            <a:r>
              <a:rPr lang="en-US" dirty="0"/>
              <a:t> mean Patient B’s local community clinic might not even have the software to receive the data.</a:t>
            </a:r>
          </a:p>
          <a:p>
            <a:r>
              <a:rPr lang="en-US" b="1" dirty="0"/>
              <a:t>Literacy and Bias:</a:t>
            </a:r>
            <a:r>
              <a:rPr lang="en-US" dirty="0"/>
              <a:t> Patient B may have </a:t>
            </a:r>
            <a:r>
              <a:rPr lang="en-US" b="1" dirty="0"/>
              <a:t>low health/tech literacy</a:t>
            </a:r>
            <a:r>
              <a:rPr lang="en-US" dirty="0"/>
              <a:t>. Furthermore, if the </a:t>
            </a:r>
            <a:r>
              <a:rPr lang="en-US" b="1" dirty="0"/>
              <a:t>AI Algorithm</a:t>
            </a:r>
            <a:r>
              <a:rPr lang="en-US" dirty="0"/>
              <a:t> managing their care was trained mostly on data from people like Patient A, it might have </a:t>
            </a:r>
            <a:r>
              <a:rPr lang="en-US" b="1" dirty="0"/>
              <a:t>bias</a:t>
            </a:r>
            <a:r>
              <a:rPr lang="en-US" dirty="0"/>
              <a:t> and fail to provide accurate dosage recommendations for Patient B's lifestyle.</a:t>
            </a:r>
          </a:p>
        </p:txBody>
      </p:sp>
    </p:spTree>
    <p:extLst>
      <p:ext uri="{BB962C8B-B14F-4D97-AF65-F5344CB8AC3E}">
        <p14:creationId xmlns:p14="http://schemas.microsoft.com/office/powerpoint/2010/main" val="283617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693420"/>
            <a:ext cx="9905999" cy="5097781"/>
          </a:xfrm>
        </p:spPr>
        <p:txBody>
          <a:bodyPr>
            <a:normAutofit fontScale="85000" lnSpcReduction="10000"/>
          </a:bodyPr>
          <a:lstStyle/>
          <a:p>
            <a:r>
              <a:rPr lang="en-US" b="1" dirty="0"/>
              <a:t>3. The Resulting Outcomes</a:t>
            </a:r>
          </a:p>
          <a:p>
            <a:r>
              <a:rPr lang="en-US" b="1" dirty="0"/>
              <a:t>Patient A:</a:t>
            </a:r>
            <a:r>
              <a:rPr lang="en-US" dirty="0"/>
              <a:t> Stays healthy and productive. Their care is </a:t>
            </a:r>
            <a:r>
              <a:rPr lang="en-US" b="1" dirty="0"/>
              <a:t>coordinated and efficient</a:t>
            </a:r>
            <a:r>
              <a:rPr lang="en-US" dirty="0"/>
              <a:t>.</a:t>
            </a:r>
          </a:p>
          <a:p>
            <a:r>
              <a:rPr lang="en-US" b="1" dirty="0"/>
              <a:t>Patient B:</a:t>
            </a:r>
            <a:r>
              <a:rPr lang="en-US" dirty="0"/>
              <a:t> Because of their </a:t>
            </a:r>
            <a:r>
              <a:rPr lang="en-US" b="1" dirty="0"/>
              <a:t>Lower SES</a:t>
            </a:r>
            <a:r>
              <a:rPr lang="en-US" dirty="0"/>
              <a:t>, they experience </a:t>
            </a:r>
            <a:r>
              <a:rPr lang="en-US" b="1" dirty="0"/>
              <a:t>worse health outcomes</a:t>
            </a:r>
            <a:r>
              <a:rPr lang="en-US" dirty="0"/>
              <a:t>. Without the tech "safety net," their diabetes goes unmonitored, leading to expensive hospitalizations and complications.</a:t>
            </a:r>
          </a:p>
          <a:p>
            <a:r>
              <a:rPr lang="en-US" b="1" dirty="0"/>
              <a:t>4. The Future Opportunity</a:t>
            </a:r>
          </a:p>
          <a:p>
            <a:r>
              <a:rPr lang="en-US" dirty="0"/>
              <a:t>To fix this, the presentation suggests we must move toward </a:t>
            </a:r>
            <a:r>
              <a:rPr lang="en-US" b="1" dirty="0"/>
              <a:t>Value-Based Care</a:t>
            </a:r>
            <a:r>
              <a:rPr lang="en-US" dirty="0"/>
              <a:t> and </a:t>
            </a:r>
            <a:r>
              <a:rPr lang="en-US" b="1" dirty="0"/>
              <a:t>Social Determinants of Health (SDOH) integration</a:t>
            </a:r>
            <a:r>
              <a:rPr lang="en-US" dirty="0"/>
              <a:t>.</a:t>
            </a:r>
          </a:p>
          <a:p>
            <a:r>
              <a:rPr lang="en-US" b="1" dirty="0"/>
              <a:t>The Summary:</a:t>
            </a:r>
            <a:r>
              <a:rPr lang="en-US" dirty="0"/>
              <a:t> Health Informatics is a powerful engine for improving quality and lowering costs , but if we don't focus on </a:t>
            </a:r>
            <a:r>
              <a:rPr lang="en-US" b="1" dirty="0"/>
              <a:t>Equity</a:t>
            </a:r>
            <a:r>
              <a:rPr lang="en-US" dirty="0"/>
              <a:t> , the technology will only benefit those who are already at the top of the SES ladder</a:t>
            </a:r>
          </a:p>
          <a:p>
            <a:endParaRPr lang="en-US" dirty="0"/>
          </a:p>
        </p:txBody>
      </p:sp>
    </p:spTree>
    <p:extLst>
      <p:ext uri="{BB962C8B-B14F-4D97-AF65-F5344CB8AC3E}">
        <p14:creationId xmlns:p14="http://schemas.microsoft.com/office/powerpoint/2010/main" val="2214695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F9FEF-DD45-101A-959C-DFEB00977ED1}"/>
              </a:ext>
            </a:extLst>
          </p:cNvPr>
          <p:cNvSpPr>
            <a:spLocks noGrp="1"/>
          </p:cNvSpPr>
          <p:nvPr>
            <p:ph type="title"/>
          </p:nvPr>
        </p:nvSpPr>
        <p:spPr/>
        <p:txBody>
          <a:bodyPr/>
          <a:lstStyle/>
          <a:p>
            <a:r>
              <a:rPr lang="en-US" dirty="0"/>
              <a:t>Related work/research</a:t>
            </a:r>
          </a:p>
        </p:txBody>
      </p:sp>
      <p:sp>
        <p:nvSpPr>
          <p:cNvPr id="3" name="Content Placeholder 2">
            <a:extLst>
              <a:ext uri="{FF2B5EF4-FFF2-40B4-BE49-F238E27FC236}">
                <a16:creationId xmlns:a16="http://schemas.microsoft.com/office/drawing/2014/main" id="{A8B25F76-8154-94F8-3304-0379E57C0B03}"/>
              </a:ext>
            </a:extLst>
          </p:cNvPr>
          <p:cNvSpPr>
            <a:spLocks noGrp="1"/>
          </p:cNvSpPr>
          <p:nvPr>
            <p:ph idx="1"/>
          </p:nvPr>
        </p:nvSpPr>
        <p:spPr/>
        <p:txBody>
          <a:bodyPr/>
          <a:lstStyle/>
          <a:p>
            <a:r>
              <a:rPr lang="en-US" dirty="0"/>
              <a:t>SES strongly impacts health outcomes</a:t>
            </a:r>
          </a:p>
          <a:p>
            <a:r>
              <a:rPr lang="en-US" dirty="0"/>
              <a:t>Technology reduces disparities (but unevenly)</a:t>
            </a:r>
          </a:p>
          <a:p>
            <a:r>
              <a:rPr lang="en-US" dirty="0"/>
              <a:t>EHRs improve care quality</a:t>
            </a:r>
          </a:p>
          <a:p>
            <a:r>
              <a:rPr lang="en-US" dirty="0"/>
              <a:t>AI improves diagnostics but may introduce bias</a:t>
            </a:r>
          </a:p>
        </p:txBody>
      </p:sp>
    </p:spTree>
    <p:extLst>
      <p:ext uri="{BB962C8B-B14F-4D97-AF65-F5344CB8AC3E}">
        <p14:creationId xmlns:p14="http://schemas.microsoft.com/office/powerpoint/2010/main" val="339263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98B3A-8B86-6495-A61F-CE451F20AB37}"/>
              </a:ext>
            </a:extLst>
          </p:cNvPr>
          <p:cNvSpPr>
            <a:spLocks noGrp="1"/>
          </p:cNvSpPr>
          <p:nvPr>
            <p:ph type="title"/>
          </p:nvPr>
        </p:nvSpPr>
        <p:spPr/>
        <p:txBody>
          <a:bodyPr/>
          <a:lstStyle/>
          <a:p>
            <a:r>
              <a:rPr lang="en-US" dirty="0"/>
              <a:t>Opportunities for future research</a:t>
            </a:r>
          </a:p>
        </p:txBody>
      </p:sp>
      <p:sp>
        <p:nvSpPr>
          <p:cNvPr id="3" name="Content Placeholder 2">
            <a:extLst>
              <a:ext uri="{FF2B5EF4-FFF2-40B4-BE49-F238E27FC236}">
                <a16:creationId xmlns:a16="http://schemas.microsoft.com/office/drawing/2014/main" id="{9BB916C4-1346-5806-434A-6F28E4D3681F}"/>
              </a:ext>
            </a:extLst>
          </p:cNvPr>
          <p:cNvSpPr>
            <a:spLocks noGrp="1"/>
          </p:cNvSpPr>
          <p:nvPr>
            <p:ph idx="1"/>
          </p:nvPr>
        </p:nvSpPr>
        <p:spPr/>
        <p:txBody>
          <a:bodyPr>
            <a:normAutofit fontScale="92500" lnSpcReduction="10000"/>
          </a:bodyPr>
          <a:lstStyle/>
          <a:p>
            <a:r>
              <a:rPr lang="en-US" dirty="0"/>
              <a:t>AI and machine learning</a:t>
            </a:r>
          </a:p>
          <a:p>
            <a:r>
              <a:rPr lang="en-US" dirty="0"/>
              <a:t>Real time data sharing (FHIR)</a:t>
            </a:r>
          </a:p>
          <a:p>
            <a:r>
              <a:rPr lang="en-US" dirty="0"/>
              <a:t>Cost prediction and optimization models </a:t>
            </a:r>
          </a:p>
          <a:p>
            <a:r>
              <a:rPr lang="en-US" dirty="0"/>
              <a:t>Synthetic data to reduce bias</a:t>
            </a:r>
          </a:p>
          <a:p>
            <a:r>
              <a:rPr lang="en-US" dirty="0"/>
              <a:t>Telehealth for underserved populations</a:t>
            </a:r>
          </a:p>
          <a:p>
            <a:r>
              <a:rPr lang="en-US" dirty="0"/>
              <a:t>SDOH (social determinants of health) integration</a:t>
            </a:r>
          </a:p>
          <a:p>
            <a:r>
              <a:rPr lang="en-US" dirty="0"/>
              <a:t>Value based care models</a:t>
            </a:r>
          </a:p>
        </p:txBody>
      </p:sp>
    </p:spTree>
    <p:extLst>
      <p:ext uri="{BB962C8B-B14F-4D97-AF65-F5344CB8AC3E}">
        <p14:creationId xmlns:p14="http://schemas.microsoft.com/office/powerpoint/2010/main" val="451759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B426-1202-8279-0EEF-BD62878E3B2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2D8B9B5-58EA-9ADB-53D5-12A5842F1FBF}"/>
              </a:ext>
            </a:extLst>
          </p:cNvPr>
          <p:cNvSpPr>
            <a:spLocks noGrp="1"/>
          </p:cNvSpPr>
          <p:nvPr>
            <p:ph idx="1"/>
          </p:nvPr>
        </p:nvSpPr>
        <p:spPr/>
        <p:txBody>
          <a:bodyPr>
            <a:normAutofit fontScale="85000" lnSpcReduction="20000"/>
          </a:bodyPr>
          <a:lstStyle/>
          <a:p>
            <a:r>
              <a:rPr lang="en-US" dirty="0"/>
              <a:t>Health informatics improves quality and efficiency of care</a:t>
            </a:r>
          </a:p>
          <a:p>
            <a:r>
              <a:rPr lang="en-US" dirty="0"/>
              <a:t>Can reduce long term healthcare costs</a:t>
            </a:r>
          </a:p>
          <a:p>
            <a:r>
              <a:rPr lang="en-US" dirty="0"/>
              <a:t>Socioeconomic status (SES) strongly impacts outcomes and access</a:t>
            </a:r>
          </a:p>
          <a:p>
            <a:r>
              <a:rPr lang="en-US" dirty="0"/>
              <a:t>Technology can reduce disparities but not equally</a:t>
            </a:r>
          </a:p>
          <a:p>
            <a:r>
              <a:rPr lang="en-US" dirty="0"/>
              <a:t>Major barriers</a:t>
            </a:r>
          </a:p>
          <a:p>
            <a:pPr lvl="1"/>
            <a:r>
              <a:rPr lang="en-US" dirty="0"/>
              <a:t>Digital divide</a:t>
            </a:r>
          </a:p>
          <a:p>
            <a:pPr lvl="1"/>
            <a:r>
              <a:rPr lang="en-US" dirty="0"/>
              <a:t>Interoperability</a:t>
            </a:r>
          </a:p>
          <a:p>
            <a:pPr lvl="1"/>
            <a:r>
              <a:rPr lang="en-US" dirty="0"/>
              <a:t>Bias</a:t>
            </a:r>
          </a:p>
          <a:p>
            <a:r>
              <a:rPr lang="en-US" dirty="0"/>
              <a:t>Future focus must prioritize equity and accessibility</a:t>
            </a:r>
          </a:p>
        </p:txBody>
      </p:sp>
    </p:spTree>
    <p:extLst>
      <p:ext uri="{BB962C8B-B14F-4D97-AF65-F5344CB8AC3E}">
        <p14:creationId xmlns:p14="http://schemas.microsoft.com/office/powerpoint/2010/main" val="286721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4A7B-B1ED-19DB-889C-FF92684AA20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3B538B5-8A41-6A64-F02B-0621DF6B9F4F}"/>
              </a:ext>
            </a:extLst>
          </p:cNvPr>
          <p:cNvSpPr>
            <a:spLocks noGrp="1"/>
          </p:cNvSpPr>
          <p:nvPr>
            <p:ph idx="1"/>
          </p:nvPr>
        </p:nvSpPr>
        <p:spPr>
          <a:xfrm>
            <a:off x="1141412" y="2249486"/>
            <a:ext cx="10128271" cy="3989995"/>
          </a:xfrm>
        </p:spPr>
        <p:txBody>
          <a:bodyPr>
            <a:normAutofit fontScale="55000" lnSpcReduction="20000"/>
          </a:bodyPr>
          <a:lstStyle/>
          <a:p>
            <a:r>
              <a:rPr lang="en-US" dirty="0"/>
              <a:t>Magnuson, A., &amp; Fu, P. (2020). </a:t>
            </a:r>
            <a:r>
              <a:rPr lang="en-US" i="1" dirty="0"/>
              <a:t>Public Health Informatics and Information Systems</a:t>
            </a:r>
          </a:p>
          <a:p>
            <a:r>
              <a:rPr lang="en-US" dirty="0"/>
              <a:t>Centers for Disease Control and Prevention (CDC)</a:t>
            </a:r>
          </a:p>
          <a:p>
            <a:r>
              <a:rPr lang="en-US" dirty="0"/>
              <a:t>World Health Organization (WHO)</a:t>
            </a:r>
          </a:p>
          <a:p>
            <a:r>
              <a:rPr lang="en-US" dirty="0"/>
              <a:t>Office of the National Coordinator for Health IT (ONC)</a:t>
            </a:r>
          </a:p>
          <a:p>
            <a:r>
              <a:rPr lang="en-US" dirty="0"/>
              <a:t>Health Affairs Journal</a:t>
            </a:r>
          </a:p>
          <a:p>
            <a:r>
              <a:rPr lang="en-US" dirty="0"/>
              <a:t>Journal of the American Medical Informatics Association (JAMIA)</a:t>
            </a:r>
          </a:p>
          <a:p>
            <a:r>
              <a:rPr lang="en-US" dirty="0" err="1"/>
              <a:t>Larnyo</a:t>
            </a:r>
            <a:r>
              <a:rPr lang="en-US" dirty="0"/>
              <a:t> et al. (2025)</a:t>
            </a:r>
          </a:p>
          <a:p>
            <a:r>
              <a:rPr lang="en-US" dirty="0"/>
              <a:t>Kruse et al. (2025)</a:t>
            </a:r>
          </a:p>
          <a:p>
            <a:r>
              <a:rPr lang="en-US" dirty="0"/>
              <a:t>Holmgren et al. (2025)</a:t>
            </a:r>
          </a:p>
          <a:p>
            <a:r>
              <a:rPr lang="en-US" dirty="0"/>
              <a:t>NAACP (2025)</a:t>
            </a:r>
          </a:p>
          <a:p>
            <a:r>
              <a:rPr lang="en-US" dirty="0"/>
              <a:t>ONC (2024)</a:t>
            </a:r>
          </a:p>
          <a:p>
            <a:r>
              <a:rPr lang="en-US" dirty="0"/>
              <a:t>Barakat &amp; Konstantinidis (2023)</a:t>
            </a:r>
          </a:p>
          <a:p>
            <a:endParaRPr lang="en-US" dirty="0"/>
          </a:p>
        </p:txBody>
      </p:sp>
    </p:spTree>
    <p:extLst>
      <p:ext uri="{BB962C8B-B14F-4D97-AF65-F5344CB8AC3E}">
        <p14:creationId xmlns:p14="http://schemas.microsoft.com/office/powerpoint/2010/main" val="3262593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155</TotalTime>
  <Words>1632</Words>
  <Application>Microsoft Macintosh PowerPoint</Application>
  <PresentationFormat>Widescreen</PresentationFormat>
  <Paragraphs>129</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Tw Cen MT</vt:lpstr>
      <vt:lpstr>Circuit</vt:lpstr>
      <vt:lpstr>Quality cost of care in health informatics Focus: Socioeconomic status (ses) and outcomes</vt:lpstr>
      <vt:lpstr>introduction</vt:lpstr>
      <vt:lpstr>Impact on public health</vt:lpstr>
      <vt:lpstr>Improving quality of care</vt:lpstr>
      <vt:lpstr>Impact on cost of care</vt:lpstr>
      <vt:lpstr>challenges</vt:lpstr>
      <vt:lpstr>PowerPoint Presentation</vt:lpstr>
      <vt:lpstr>PowerPoint Presentation</vt:lpstr>
      <vt:lpstr>PowerPoint Presentation</vt:lpstr>
      <vt:lpstr>Related work/research</vt:lpstr>
      <vt:lpstr>Opportunities for future research</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cost of care in health informatics Focus: Socioeconomic status (ses) and outcomes</dc:title>
  <dc:creator>tciufo</dc:creator>
  <cp:lastModifiedBy>tciufo</cp:lastModifiedBy>
  <cp:revision>18</cp:revision>
  <dcterms:created xsi:type="dcterms:W3CDTF">2026-04-01T13:27:51Z</dcterms:created>
  <dcterms:modified xsi:type="dcterms:W3CDTF">2026-04-14T15:04:09Z</dcterms:modified>
</cp:coreProperties>
</file>